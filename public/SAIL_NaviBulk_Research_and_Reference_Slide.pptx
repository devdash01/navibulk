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alticexchange.com/en/data-services/market-information0/dry-services.html" TargetMode="External"/><Relationship Id="rId3" Type="http://schemas.openxmlformats.org/officeDocument/2006/relationships/hyperlink" Target="https://www.bimco.org/contracts-and-clauses/bimco-clauses/current/laytime-definitions-for-chartering-2013" TargetMode="External"/><Relationship Id="rId4" Type="http://schemas.openxmlformats.org/officeDocument/2006/relationships/hyperlink" Target="https://cag.gov.in/en/audit-report/details/46174" TargetMode="External"/><Relationship Id="rId5" Type="http://schemas.openxmlformats.org/officeDocument/2006/relationships/hyperlink" Target="https://pib.gov.in/PressReleasePage.aspx?PRID=1778931" TargetMode="External"/><Relationship Id="rId6" Type="http://schemas.openxmlformats.org/officeDocument/2006/relationships/hyperlink" Target="https://paradipport.gov.in/berth-specifications/" TargetMode="External"/><Relationship Id="rId7" Type="http://schemas.openxmlformats.org/officeDocument/2006/relationships/hyperlink" Target="https://vizagport.com/Template/navigateTemplate/gnt/QmVydGhz" TargetMode="External"/><Relationship Id="rId8" Type="http://schemas.openxmlformats.org/officeDocument/2006/relationships/hyperlink" Target="https://smportkolkata.shipping.gov.in/smpk/en/draft-forecast/" TargetMode="External"/><Relationship Id="rId9" Type="http://schemas.openxmlformats.org/officeDocument/2006/relationships/hyperlink" Target="https://raw.githubusercontent.com/ajoposor/Baltic-Dry-Index/master/Old_Data_Baltic_Dry_Index.csv" TargetMode="External"/><Relationship Id="rId10" Type="http://schemas.openxmlformats.org/officeDocument/2006/relationships/hyperlink" Target="https://shipandbunker.com/prices/av/global/av-g20-global-20-ports-average" TargetMode="External"/><Relationship Id="rId11" Type="http://schemas.openxmlformats.org/officeDocument/2006/relationships/hyperlink" Target="https://thedocs.worldbank.org/en/doc/5d903e848db1d1b83e0ec8f744e55570-0350012021/related/CMO-Historical-Data-Monthly.xlsx" TargetMode="External"/><Relationship Id="rId12" Type="http://schemas.openxmlformats.org/officeDocument/2006/relationships/hyperlink" Target="https://www.vesselfinder.com/" TargetMode="External"/><Relationship Id="rId13" Type="http://schemas.openxmlformats.org/officeDocument/2006/relationships/hyperlink" Target="https://www.clarksons.com/" TargetMode="External"/><Relationship Id="rId14" Type="http://schemas.openxmlformats.org/officeDocument/2006/relationships/hyperlink" Target="https://help.sap.com/docs/SAP_TRANSPORTATION_MANAGEMENT" TargetMode="External"/><Relationship Id="rId15" Type="http://schemas.openxmlformats.org/officeDocument/2006/relationships/hyperlink" Target="https://www.cvc.gov.in/" TargetMode="External"/><Relationship Id="rId16" Type="http://schemas.openxmlformats.org/officeDocument/2006/relationships/hyperlink" Target="https://www.bimco.org/contracts-and-clauses/bimco-clauses/current/virtual-arrival-clause-for-voyage-charter-parties-201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vesselfinder.com/" TargetMode="External"/><Relationship Id="rId3" Type="http://schemas.openxmlformats.org/officeDocument/2006/relationships/hyperlink" Target="https://www.clarksons.com/" TargetMode="External"/><Relationship Id="rId4" Type="http://schemas.openxmlformats.org/officeDocument/2006/relationships/hyperlink" Target="https://help.sap.com/docs/SAP_TRANSPORTATION_MANAGEMENT" TargetMode="External"/><Relationship Id="rId5" Type="http://schemas.openxmlformats.org/officeDocument/2006/relationships/hyperlink" Target="https://www.kpler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37744"/>
          </a:xfrm>
          <a:prstGeom prst="roundRect">
            <a:avLst/>
          </a:prstGeom>
          <a:solidFill>
            <a:srgbClr val="121E3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0A5FA"/>
                </a:solidFill>
              </a:rPr>
              <a:t>SIH-26006 • MINISTRY OF STEEL / SAIL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C"/>
                </a:solidFill>
              </a:rPr>
              <a:t>⚓ SAIL NaviBulk: Research, Validation &amp; Competitive Proofs</a:t>
            </a:r>
          </a:p>
          <a:p>
            <a:r>
              <a:rPr sz="950">
                <a:solidFill>
                  <a:srgbClr val="94A3B8"/>
                </a:solidFill>
              </a:rPr>
              <a:t>Direct Primary Sources: Port Circulars, Statutory CAG Audits &amp; Econometric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365760"/>
            <a:ext cx="12344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50" b="1">
                <a:solidFill>
                  <a:srgbClr val="10B981"/>
                </a:solidFill>
              </a:rPr>
              <a:t>18–22 MMT</a:t>
            </a:r>
          </a:p>
          <a:p>
            <a:pPr algn="r"/>
            <a:r>
              <a:rPr sz="700">
                <a:solidFill>
                  <a:srgbClr val="64748B"/>
                </a:solidFill>
              </a:rPr>
              <a:t>Annual Coking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365760"/>
            <a:ext cx="12344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50" b="1">
                <a:solidFill>
                  <a:srgbClr val="10B981"/>
                </a:solidFill>
              </a:rPr>
              <a:t>₹3,300+ Cr</a:t>
            </a:r>
          </a:p>
          <a:p>
            <a:pPr algn="r"/>
            <a:r>
              <a:rPr sz="700">
                <a:solidFill>
                  <a:srgbClr val="64748B"/>
                </a:solidFill>
              </a:rPr>
              <a:t>Annual Freight Outlay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65760"/>
            <a:ext cx="12344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50" b="1">
                <a:solidFill>
                  <a:srgbClr val="10B981"/>
                </a:solidFill>
              </a:rPr>
              <a:t>1.81%</a:t>
            </a:r>
          </a:p>
          <a:p>
            <a:pPr algn="r"/>
            <a:r>
              <a:rPr sz="700">
                <a:solidFill>
                  <a:srgbClr val="64748B"/>
                </a:solidFill>
              </a:rPr>
              <a:t>XGBoost 1-Day MAPE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43F5E"/>
                </a:solidFill>
              </a:rPr>
              <a:t>1. THE MARKET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59E0B"/>
                </a:solidFill>
              </a:rPr>
              <a:t>2. SAIL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6B6D4"/>
                </a:solidFill>
              </a:rPr>
              <a:t>3. SOURCE → 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563EB"/>
                </a:solidFill>
              </a:rPr>
              <a:t>4. DATA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0B981"/>
                </a:solidFill>
              </a:rPr>
              <a:t>5. COMPETITIVE PROOFS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170432"/>
            <a:ext cx="1719072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</a:rPr>
              <a:t>6. STATUTORY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664208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43F5E"/>
                </a:solidFill>
              </a:rPr>
              <a:t>01. The Market Gap</a:t>
            </a:r>
            <a:r>
              <a:t>   </a:t>
            </a:r>
            <a:r>
              <a:rPr sz="700" b="1">
                <a:solidFill>
                  <a:srgbClr val="F43F5E"/>
                </a:solidFill>
              </a:rPr>
              <a:t>[COMMERCIAL RISK]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Spot Volatility: </a:t>
            </a:r>
            <a:r>
              <a:rPr sz="720">
                <a:solidFill>
                  <a:srgbClr val="94A3B8"/>
                </a:solidFill>
              </a:rPr>
              <a:t>BDI swings $15k–$35k/day cause severe budget shocks.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Demurrage Traps: </a:t>
            </a:r>
            <a:r>
              <a:rPr sz="720">
                <a:solidFill>
                  <a:srgbClr val="94A3B8"/>
                </a:solidFill>
              </a:rPr>
              <a:t>Blind broker fixtures incur $20k–$35k/day waiting penalties.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Haldia Bottleneck: </a:t>
            </a:r>
            <a:r>
              <a:rPr sz="720">
                <a:solidFill>
                  <a:srgbClr val="94A3B8"/>
                </a:solidFill>
              </a:rPr>
              <a:t>8.8m riverine draft locks out Panamax ships without lightering.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Scale Shifts: </a:t>
            </a:r>
            <a:r>
              <a:rPr sz="720">
                <a:solidFill>
                  <a:srgbClr val="94A3B8"/>
                </a:solidFill>
              </a:rPr>
              <a:t>Raw price level ML fails (~40% MAPE) on 40-year BDI changes.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2"/>
              </a:rPr>
              <a:t>[Baltic Benchmark Rules]  </a:t>
            </a:r>
            <a:r>
              <a:rPr sz="720" b="1">
                <a:solidFill>
                  <a:srgbClr val="60A5FA"/>
                </a:solidFill>
                <a:hlinkClick r:id="rId3"/>
              </a:rPr>
              <a:t>[BIMCO Laytime Rules]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554480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64208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02. SAIL Validation</a:t>
            </a:r>
            <a:r>
              <a:t>   </a:t>
            </a:r>
            <a:r>
              <a:rPr sz="700" b="1">
                <a:solidFill>
                  <a:srgbClr val="F59E0B"/>
                </a:solidFill>
              </a:rPr>
              <a:t>[CAG AUDIT PROVEN]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Feedstock Deficit: </a:t>
            </a:r>
            <a:r>
              <a:rPr sz="720">
                <a:solidFill>
                  <a:srgbClr val="94A3B8"/>
                </a:solidFill>
              </a:rPr>
              <a:t>Domestic coal has 24–32% ash; blast furnaces need &lt;10% ash.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Freight Spend: </a:t>
            </a:r>
            <a:r>
              <a:rPr sz="720">
                <a:solidFill>
                  <a:srgbClr val="94A3B8"/>
                </a:solidFill>
              </a:rPr>
              <a:t>SAIL imports 18–22 MMT coal, spending ₹3,300+ Cr ($400M+) yearly.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CAG Report 11/2018: </a:t>
            </a:r>
            <a:r>
              <a:rPr sz="720">
                <a:solidFill>
                  <a:srgbClr val="94A3B8"/>
                </a:solidFill>
              </a:rPr>
              <a:t>Official audit of 670 vessels (₹12,797 Cr); ordered demurrage cuts.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Sansad Warning: </a:t>
            </a:r>
            <a:r>
              <a:rPr sz="720">
                <a:solidFill>
                  <a:srgbClr val="94A3B8"/>
                </a:solidFill>
              </a:rPr>
              <a:t>Parliament instructed SAIL to cut 80–85% reliance on Australia.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4"/>
              </a:rPr>
              <a:t>[CAG Audit Report 11/2018]  </a:t>
            </a:r>
            <a:r>
              <a:rPr sz="720" b="1">
                <a:solidFill>
                  <a:srgbClr val="60A5FA"/>
                </a:solidFill>
                <a:hlinkClick r:id="rId5"/>
              </a:rPr>
              <a:t>[PIB Coking Coal Statement]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554480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1664208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6B6D4"/>
                </a:solidFill>
              </a:rPr>
              <a:t>03. Source → Destination</a:t>
            </a:r>
            <a:r>
              <a:t>   </a:t>
            </a:r>
            <a:r>
              <a:rPr sz="700" b="1">
                <a:solidFill>
                  <a:srgbClr val="06B6D4"/>
                </a:solidFill>
              </a:rPr>
              <a:t>[PHYSICAL GATING]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Paradip (PPA): </a:t>
            </a:r>
            <a:r>
              <a:rPr sz="720">
                <a:solidFill>
                  <a:srgbClr val="94A3B8"/>
                </a:solidFill>
              </a:rPr>
              <a:t>14.5m draft CB-1/2, 16.5m deep approach channel [Notice 750].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Vizag (VPT): </a:t>
            </a:r>
            <a:r>
              <a:rPr sz="720">
                <a:solidFill>
                  <a:srgbClr val="94A3B8"/>
                </a:solidFill>
              </a:rPr>
              <a:t>Outer Harbor VGCB 18.1m draft allows 200,000 DWT Capesize.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Haldia (SMPK): </a:t>
            </a:r>
            <a:r>
              <a:rPr sz="720">
                <a:solidFill>
                  <a:srgbClr val="94A3B8"/>
                </a:solidFill>
              </a:rPr>
              <a:t>8.8m lock limit forces Sagar 2-stage lightering ($3.80/t + 3.5d).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Nautical Routing: </a:t>
            </a:r>
            <a:r>
              <a:rPr sz="720">
                <a:solidFill>
                  <a:srgbClr val="94A3B8"/>
                </a:solidFill>
              </a:rPr>
              <a:t>SeaRates &amp; NGA: Hay Point (4,850nm), Hampton Roads (11,300nm).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6"/>
              </a:rPr>
              <a:t>[Paradip Berth Specs]  </a:t>
            </a:r>
            <a:r>
              <a:rPr sz="720" b="1">
                <a:solidFill>
                  <a:srgbClr val="60A5FA"/>
                </a:solidFill>
                <a:hlinkClick r:id="rId7"/>
              </a:rPr>
              <a:t>[Vizag Port Berths]  </a:t>
            </a:r>
            <a:r>
              <a:rPr sz="720" b="1">
                <a:solidFill>
                  <a:srgbClr val="60A5FA"/>
                </a:solidFill>
                <a:hlinkClick r:id="rId8"/>
              </a:rPr>
              <a:t>[Haldia Draft Forecast]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0792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60520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04. Data Application</a:t>
            </a:r>
            <a:r>
              <a:t>   </a:t>
            </a:r>
            <a:r>
              <a:rPr sz="700" b="1">
                <a:solidFill>
                  <a:srgbClr val="2563EB"/>
                </a:solidFill>
              </a:rPr>
              <a:t>[ECONOMETRIC ML]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10,246 Records: </a:t>
            </a:r>
            <a:r>
              <a:rPr sz="720">
                <a:solidFill>
                  <a:srgbClr val="94A3B8"/>
                </a:solidFill>
              </a:rPr>
              <a:t>Merged 1985–2026 data trained on log-returns: r_t = ln(P_t/P_{t-1}).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Forecast Win: </a:t>
            </a:r>
            <a:r>
              <a:rPr sz="720">
                <a:solidFill>
                  <a:srgbClr val="94A3B8"/>
                </a:solidFill>
              </a:rPr>
              <a:t>XGBoost achieves 1.81% MAPE ($457/day); SARIMA achieves 2.39%.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G20 Bunker Prices: </a:t>
            </a:r>
            <a:r>
              <a:rPr sz="720">
                <a:solidFill>
                  <a:srgbClr val="94A3B8"/>
                </a:solidFill>
              </a:rPr>
              <a:t>Dynamic cubic fuel burn (P ∝ v³) against Ship &amp; Bunker VLSFO.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Commodity Benchmarks: </a:t>
            </a:r>
            <a:r>
              <a:rPr sz="720">
                <a:solidFill>
                  <a:srgbClr val="94A3B8"/>
                </a:solidFill>
              </a:rPr>
              <a:t>World Bank Pink Sheet coking coal &amp; iron ore monthly series.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9"/>
              </a:rPr>
              <a:t>[ajoposor BDI Dataset [CSV]]  </a:t>
            </a:r>
            <a:r>
              <a:rPr sz="720" b="1">
                <a:solidFill>
                  <a:srgbClr val="60A5FA"/>
                </a:solidFill>
                <a:hlinkClick r:id="rId10"/>
              </a:rPr>
              <a:t>[Ship &amp; Bunker G20 Index]  </a:t>
            </a:r>
            <a:r>
              <a:rPr sz="720" b="1">
                <a:solidFill>
                  <a:srgbClr val="60A5FA"/>
                </a:solidFill>
                <a:hlinkClick r:id="rId11"/>
              </a:rPr>
              <a:t>[World Bank Pink Sheet [XLSX]]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4050792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160520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05. Competitive Advantage</a:t>
            </a:r>
            <a:r>
              <a:t>   </a:t>
            </a:r>
            <a:r>
              <a:rPr sz="700" b="1">
                <a:solidFill>
                  <a:srgbClr val="10B981"/>
                </a:solidFill>
              </a:rPr>
              <a:t>[PROVEN NOVELTY]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vs MarineTraffic: </a:t>
            </a:r>
            <a:r>
              <a:rPr sz="720">
                <a:solidFill>
                  <a:srgbClr val="94A3B8"/>
                </a:solidFill>
              </a:rPr>
              <a:t>Descriptive GPS tracking only vs NaviBulk predictive TCE freight math.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vs Clarksons SIN: </a:t>
            </a:r>
            <a:r>
              <a:rPr sz="720">
                <a:solidFill>
                  <a:srgbClr val="94A3B8"/>
                </a:solidFill>
              </a:rPr>
              <a:t>$10k/yr paywalled macro PDF reports vs operational berth checks.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vs SAP TM: </a:t>
            </a:r>
            <a:r>
              <a:rPr sz="720">
                <a:solidFill>
                  <a:srgbClr val="94A3B8"/>
                </a:solidFill>
              </a:rPr>
              <a:t>Enterprise ERP lacks marine physics, tidal limits, and bunker curves.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NOVEL Arbitrage: </a:t>
            </a:r>
            <a:r>
              <a:rPr sz="720">
                <a:solidFill>
                  <a:srgbClr val="94A3B8"/>
                </a:solidFill>
              </a:rPr>
              <a:t>Stage 07 multi-basin delivered $/MT optimization cuts Australia risk.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12"/>
              </a:rPr>
              <a:t>[VesselFinder AIS Fleet]  </a:t>
            </a:r>
            <a:r>
              <a:rPr sz="720" b="1">
                <a:solidFill>
                  <a:srgbClr val="60A5FA"/>
                </a:solidFill>
                <a:hlinkClick r:id="rId13"/>
              </a:rPr>
              <a:t>[Clarksons Portal]  </a:t>
            </a:r>
            <a:r>
              <a:rPr sz="720" b="1">
                <a:solidFill>
                  <a:srgbClr val="60A5FA"/>
                </a:solidFill>
                <a:hlinkClick r:id="rId14"/>
              </a:rPr>
              <a:t>[SAP TM Logistics]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4050792"/>
            <a:ext cx="3456432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4160520"/>
            <a:ext cx="3200400" cy="2112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A855F7"/>
                </a:solidFill>
              </a:rPr>
              <a:t>06. Statutory Governance</a:t>
            </a:r>
            <a:r>
              <a:t>   </a:t>
            </a:r>
            <a:r>
              <a:rPr sz="700" b="1">
                <a:solidFill>
                  <a:srgbClr val="A855F7"/>
                </a:solidFill>
              </a:rPr>
              <a:t>[CAG &amp; CVC COMPLIANT]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CAG Audit Defense: </a:t>
            </a:r>
            <a:r>
              <a:rPr sz="720">
                <a:solidFill>
                  <a:srgbClr val="94A3B8"/>
                </a:solidFill>
              </a:rPr>
              <a:t>Directly mitigates ₹274.71 Cr demurrage loss cited in CAG Report 11/2018.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CVC Compliance: </a:t>
            </a:r>
            <a:r>
              <a:rPr sz="720">
                <a:solidFill>
                  <a:srgbClr val="94A3B8"/>
                </a:solidFill>
              </a:rPr>
              <a:t>Automated immutable audit trail justifying L1 vessel fixtures &amp; COA splits.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BIMCO Charter Armor: </a:t>
            </a:r>
            <a:r>
              <a:rPr sz="720">
                <a:solidFill>
                  <a:srgbClr val="94A3B8"/>
                </a:solidFill>
              </a:rPr>
              <a:t>Virtual Arrival 2011 clause freezes laytime clocks during port congestion.</a:t>
            </a:r>
          </a:p>
          <a:p>
            <a:pPr>
              <a:spcBef>
                <a:spcPts val="350"/>
              </a:spcBef>
            </a:pPr>
            <a:r>
              <a:rPr sz="750">
                <a:solidFill>
                  <a:srgbClr val="60A5FA"/>
                </a:solidFill>
              </a:rPr>
              <a:t>▸ </a:t>
            </a:r>
            <a:r>
              <a:rPr b="1" sz="750">
                <a:solidFill>
                  <a:srgbClr val="F8FAFC"/>
                </a:solidFill>
              </a:rPr>
              <a:t>DGS / IMO Standard: </a:t>
            </a:r>
            <a:r>
              <a:rPr sz="720">
                <a:solidFill>
                  <a:srgbClr val="94A3B8"/>
                </a:solidFill>
              </a:rPr>
              <a:t>Mandatory fuel switch &amp; zero scrubber washwater discharge in 12 NM zone.</a:t>
            </a:r>
          </a:p>
          <a:p>
            <a:pPr>
              <a:spcBef>
                <a:spcPts val="700"/>
              </a:spcBef>
            </a:pPr>
            <a:r>
              <a:rPr sz="720" b="1">
                <a:solidFill>
                  <a:srgbClr val="64748B"/>
                </a:solidFill>
              </a:rPr>
              <a:t>🔗 Document Proofs: </a:t>
            </a:r>
            <a:r>
              <a:rPr sz="720" b="1">
                <a:solidFill>
                  <a:srgbClr val="60A5FA"/>
                </a:solidFill>
                <a:hlinkClick r:id="rId4"/>
              </a:rPr>
              <a:t>[CAG Report 11/2018]  </a:t>
            </a:r>
            <a:r>
              <a:rPr sz="720" b="1">
                <a:solidFill>
                  <a:srgbClr val="60A5FA"/>
                </a:solidFill>
                <a:hlinkClick r:id="rId15"/>
              </a:rPr>
              <a:t>[CVC Procurement]  </a:t>
            </a:r>
            <a:r>
              <a:rPr sz="720" b="1">
                <a:solidFill>
                  <a:srgbClr val="60A5FA"/>
                </a:solidFill>
                <a:hlinkClick r:id="rId16"/>
              </a:rPr>
              <a:t>[BIMCO Virtual Arrival]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● DIRECT DOCUMENT PROOFS  •  Ministry of Steel / SAIL (SIH-26006)  •  NGA Pub 151 &amp; SeaRates  •  CAG Report 11/2018 Audit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37744"/>
          </a:xfrm>
          <a:prstGeom prst="roundRect">
            <a:avLst/>
          </a:prstGeom>
          <a:solidFill>
            <a:srgbClr val="121E3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0A5FA"/>
                </a:solidFill>
              </a:rPr>
              <a:t>SIH-26006 • MINISTRY OF STEEL / SAIL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C"/>
                </a:solidFill>
              </a:rPr>
              <a:t>🏆 Competitive Matrix: Why SAIL NaviBulk Outperforms Existing Platforms</a:t>
            </a:r>
          </a:p>
          <a:p>
            <a:r>
              <a:rPr sz="950">
                <a:solidFill>
                  <a:srgbClr val="94A3B8"/>
                </a:solidFill>
              </a:rPr>
              <a:t>Direct Feature Comparison against MarineTraffic, Clarksons SIN, and SAP Transportation Management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834640"/>
                <a:gridCol w="3047695"/>
              </a:tblGrid>
              <a:tr h="74676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60A5FA"/>
                          </a:solidFill>
                        </a:rPr>
                        <a:t>Capability / Feature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60A5FA"/>
                          </a:solidFill>
                        </a:rPr>
                        <a:t>Incumbent Tools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60A5FA"/>
                          </a:solidFill>
                        </a:rPr>
                        <a:t>Critical Limitation for SAIL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60A5FA"/>
                          </a:solidFill>
                        </a:rPr>
                        <a:t>SAIL NaviBulk Solution (Verified Proof)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8FAFC"/>
                          </a:solidFill>
                        </a:rPr>
                        <a:t>Vessel Telemetry &amp; Tracking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MarineTraffic / Kpler
(Satellite AIS)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Purely descriptive GPS tracking. Shows ship location but lacks forward rate forecasting or voyage math.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</a:rPr>
                        <a:t>Combines AIS with forward XGBoost freight curves (1.81% MAPE) and automated laytime arrival schedules.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8FAFC"/>
                          </a:solidFill>
                        </a:rPr>
                        <a:t>Market Intelligence &amp; Analytics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Clarksons SIN / Braemar
(Shipbroking Reports)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Expensive paywalled PDF reports ($10,000+/yr). Broad macro statistics without Indian port constraint checks.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</a:rPr>
                        <a:t>Open-architecture econometric engine modeling BCI/BPI indices with CVC/CAG compliant fixture audit dossiers.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8FAFC"/>
                          </a:solidFill>
                        </a:rPr>
                        <a:t>Enterprise Logistics &amp; ERP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SAP Transportation Management
(SAP TM / S/4HANA)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Handles invoices and rail vouchers. Zero understanding of marine physics, tidal windows, or bunker burn curves.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</a:rPr>
                        <a:t>Hydrodynamic simulation modeling cubic fuel burn (P ∝ v³), lightering gating at Sagar, and demurrage prevention.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8FAFC"/>
                          </a:solidFill>
                        </a:rPr>
                        <a:t>NOVEL: Multi-Basin Sourcing (Stage 07)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None
(Traditional single-origin spot booking)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India is 80–85% dependent on Australian coal. Spot bookings fail to challenge nominations with alternative costs.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</a:rPr>
                        <a:t>Computes blast furnace gate delivered $/MT arbitrage across Australia, Mozambique, Indonesia, and USA.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8FAFC"/>
                          </a:solidFill>
                        </a:rPr>
                        <a:t>NOVEL: Backhaul Repositioning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None
(Unladen return legs ignored)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94A3B8"/>
                          </a:solidFill>
                        </a:rPr>
                        <a:t>Vessels return empty to foreign ports; shipowners price return ballast risk directly into outbound freight rates.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0B981"/>
                          </a:solidFill>
                        </a:rPr>
                        <a:t>Pairs return ballast legs with coastal iron ore / steel exports (Paradip → East Asia), recovering up to $350k/voyage.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64748B"/>
                </a:solidFill>
              </a:rPr>
              <a:t>🔗 Verified Competitor Documentation:  </a:t>
            </a:r>
            <a:r>
              <a:rPr sz="850" b="1">
                <a:solidFill>
                  <a:srgbClr val="60A5FA"/>
                </a:solidFill>
                <a:hlinkClick r:id="rId2"/>
              </a:rPr>
              <a:t>[VesselFinder AIS Fleet Tracker]   </a:t>
            </a:r>
            <a:r>
              <a:rPr sz="850" b="1">
                <a:solidFill>
                  <a:srgbClr val="60A5FA"/>
                </a:solidFill>
                <a:hlinkClick r:id="rId3"/>
              </a:rPr>
              <a:t>[Clarksons Shipping Intelligence]   </a:t>
            </a:r>
            <a:r>
              <a:rPr sz="850" b="1">
                <a:solidFill>
                  <a:srgbClr val="60A5FA"/>
                </a:solidFill>
                <a:hlinkClick r:id="rId4"/>
              </a:rPr>
              <a:t>[SAP TM Logistics Documentation]   </a:t>
            </a:r>
            <a:r>
              <a:rPr sz="850" b="1">
                <a:solidFill>
                  <a:srgbClr val="60A5FA"/>
                </a:solidFill>
                <a:hlinkClick r:id="rId5"/>
              </a:rPr>
              <a:t>[Kpler Dry Bulk Analytics]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37744"/>
          </a:xfrm>
          <a:prstGeom prst="roundRect">
            <a:avLst/>
          </a:prstGeom>
          <a:solidFill>
            <a:srgbClr val="121E3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0A5FA"/>
                </a:solidFill>
              </a:rPr>
              <a:t>SIH-26006 • MINISTRY OF STEEL / SAIL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C"/>
                </a:solidFill>
              </a:rPr>
              <a:t>🧠 Econometric &amp; ML Forecasting Architecture: End-to-End Decision Pipeline</a:t>
            </a:r>
          </a:p>
          <a:p>
            <a:r>
              <a:rPr sz="950">
                <a:solidFill>
                  <a:srgbClr val="94A3B8"/>
                </a:solidFill>
              </a:rPr>
              <a:t>Dual-Engine (XGBoost Regressor + SARIMAX + GARCH) with Stationarity Transform &amp; Hydrodynamic Bunker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993392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99032"/>
            <a:ext cx="1847088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" b="1">
                <a:solidFill>
                  <a:srgbClr val="06B6D4"/>
                </a:solidFill>
              </a:rPr>
              <a:t>STEP 01 • INPUT TELEMETRY
</a:t>
            </a:r>
            <a:r>
              <a:rPr sz="950" b="1">
                <a:solidFill>
                  <a:srgbClr val="F8FAFC"/>
                </a:solidFill>
              </a:rPr>
              <a:t>Raw Data Ingestion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06B6D4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10,246 BDI daily records (1985–2026).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06B6D4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Ship &amp; Bunker G20 VLSFO ($829.50/t).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06B6D4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NGA &amp; SeaRates nautical distance matrix.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06B6D4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Port bathymetry (14.5m / 18.1m / 8.8m).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2344" y="2286000"/>
            <a:ext cx="1280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325880"/>
            <a:ext cx="1993392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1399032"/>
            <a:ext cx="1847088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" b="1">
                <a:solidFill>
                  <a:srgbClr val="2563EB"/>
                </a:solidFill>
              </a:rPr>
              <a:t>STEP 02 • FEATURE TENSORS
</a:t>
            </a:r>
            <a:r>
              <a:rPr sz="950" b="1">
                <a:solidFill>
                  <a:srgbClr val="F8FAFC"/>
                </a:solidFill>
              </a:rPr>
              <a:t>Stationarity &amp; Transform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2563E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Log-returns: r_t = ln(P_t / P_{t-1}).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2563E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Eliminates 40-yr structural regime bias.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2563E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Rolling volatility: σ_7d, σ_14d, σ_30d.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2563E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Exponential moving averages &amp; momentum.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2286000"/>
            <a:ext cx="1280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25880"/>
            <a:ext cx="1993392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399032"/>
            <a:ext cx="1847088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" b="1">
                <a:solidFill>
                  <a:srgbClr val="A855F7"/>
                </a:solidFill>
              </a:rPr>
              <a:t>STEP 03 • MODEL TRAINING
</a:t>
            </a:r>
            <a:r>
              <a:rPr sz="950" b="1">
                <a:solidFill>
                  <a:srgbClr val="F8FAFC"/>
                </a:solidFill>
              </a:rPr>
              <a:t>Dual-Core ML Engine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A855F7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XGBoost Regressor: 1.81% 1-day MAPE.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A855F7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SARIMAX(1,0,1): 2.39% MLE baseline.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A855F7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GARCH(1,1): Dynamic variance modeling.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A855F7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Trained with zero lookahead bias.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286000"/>
            <a:ext cx="1280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325880"/>
            <a:ext cx="1993392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399032"/>
            <a:ext cx="1847088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" b="1">
                <a:solidFill>
                  <a:srgbClr val="F59E0B"/>
                </a:solidFill>
              </a:rPr>
              <a:t>STEP 04 • PROJECTION LAYER
</a:t>
            </a:r>
            <a:r>
              <a:rPr sz="950" b="1">
                <a:solidFill>
                  <a:srgbClr val="F8FAFC"/>
                </a:solidFill>
              </a:rPr>
              <a:t>Vessel Scaling &amp; Cones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F59E0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Post-2018 Baltic weights (40/30/30 split).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F59E0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Compounding: P̂_{t+h} = P_t · exp(Σ r̂_τ).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F59E0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95% widening econometric confidence cones.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F59E0B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Stress multipliers (0.85x to 1.35x crisis).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1280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325880"/>
            <a:ext cx="1993392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399032"/>
            <a:ext cx="1847088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" b="1">
                <a:solidFill>
                  <a:srgbClr val="10B981"/>
                </a:solidFill>
              </a:rPr>
              <a:t>STEP 05 • COMMERCIAL ACTION
</a:t>
            </a:r>
            <a:r>
              <a:rPr sz="950" b="1">
                <a:solidFill>
                  <a:srgbClr val="F8FAFC"/>
                </a:solidFill>
              </a:rPr>
              <a:t>Prescriptive Dispatch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10B981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Hydrodynamic cubic burn (P ∝ v³).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10B981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Spot Fixture vs 14d Delay vs COA Hedge.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10B981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Demurrage prevention &amp; laytime synch.</a:t>
            </a:r>
          </a:p>
          <a:p>
            <a:pPr>
              <a:spcBef>
                <a:spcPts val="350"/>
              </a:spcBef>
            </a:pPr>
            <a:r>
              <a:rPr sz="700">
                <a:solidFill>
                  <a:srgbClr val="10B981"/>
                </a:solidFill>
              </a:rPr>
              <a:t>▸ </a:t>
            </a:r>
            <a:r>
              <a:rPr sz="720">
                <a:solidFill>
                  <a:srgbClr val="94A3B8"/>
                </a:solidFill>
              </a:rPr>
              <a:t>CVC GFR Rule 144(xi) fixture dossier.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657600"/>
          <a:ext cx="52120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188720"/>
              </a:tblGrid>
              <a:tr h="53035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60A5FA"/>
                          </a:solidFill>
                        </a:rPr>
                        <a:t>Forecasting Architecture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60A5FA"/>
                          </a:solidFill>
                        </a:rPr>
                        <a:t>1-Day MAPE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60A5FA"/>
                          </a:solidFill>
                        </a:rPr>
                        <a:t>Level RMSE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60A5FA"/>
                          </a:solidFill>
                        </a:rPr>
                        <a:t>Horizon / Basis</a:t>
                      </a:r>
                    </a:p>
                  </a:txBody>
                  <a:tcPr>
                    <a:solidFill>
                      <a:srgbClr val="121E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0B981"/>
                          </a:solidFill>
                        </a:rPr>
                        <a:t>XGBoost Regressor (NaviBulk)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0B981"/>
                          </a:solidFill>
                        </a:rPr>
                        <a:t>1.81%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$457 / day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30-Day Multi-Step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8FAFC"/>
                          </a:solidFill>
                        </a:rPr>
                        <a:t>SARIMAX(1,0,1) Baseline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2.39%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$604 / day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Conditional Gaussian MLE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8FAFC"/>
                          </a:solidFill>
                        </a:rPr>
                        <a:t>Naive Lag-1 Persistence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4.85%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$1,218 / day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94A3B8"/>
                          </a:solidFill>
                        </a:rPr>
                        <a:t>P̂_{t+1} = P_t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43F5E"/>
                          </a:solidFill>
                        </a:rPr>
                        <a:t>Raw Price Level ML (Unstationary)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43F5E"/>
                          </a:solidFill>
                        </a:rPr>
                        <a:t>~40.2%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43F5E"/>
                          </a:solidFill>
                        </a:rPr>
                        <a:t>$8,940 / day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F43F5E"/>
                          </a:solidFill>
                        </a:rPr>
                        <a:t>Fails (Scale Contaminated)</a:t>
                      </a:r>
                    </a:p>
                  </a:txBody>
                  <a:tcPr>
                    <a:solidFill>
                      <a:srgbClr val="0C1220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217920" y="3657600"/>
            <a:ext cx="5242255" cy="2651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67328"/>
            <a:ext cx="4967935" cy="2432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6B6D4"/>
                </a:solidFill>
              </a:rPr>
              <a:t>📐 Governing Mathematical Formulations &amp; Hydrodynamic Laws
</a:t>
            </a:r>
          </a:p>
          <a:p>
            <a:pPr>
              <a:spcBef>
                <a:spcPts val="300"/>
              </a:spcBef>
            </a:pPr>
            <a:r>
              <a:rPr sz="750" b="1">
                <a:solidFill>
                  <a:srgbClr val="F8FAFC"/>
                </a:solidFill>
              </a:rPr>
              <a:t>1. Log-Return Stationarity Transform: </a:t>
            </a:r>
            <a:r>
              <a:rPr sz="720">
                <a:solidFill>
                  <a:srgbClr val="F59E0B"/>
                </a:solidFill>
              </a:rPr>
              <a:t>r_t = ln(P_t / P_{t-1})  [Eliminates unit-root variance over 40 yrs of BDI]</a:t>
            </a:r>
          </a:p>
          <a:p>
            <a:pPr>
              <a:spcBef>
                <a:spcPts val="300"/>
              </a:spcBef>
            </a:pPr>
            <a:r>
              <a:rPr sz="750" b="1">
                <a:solidFill>
                  <a:srgbClr val="F8FAFC"/>
                </a:solidFill>
              </a:rPr>
              <a:t>2. GARCH(1,1) Volatility Formulation: </a:t>
            </a:r>
            <a:r>
              <a:rPr sz="720">
                <a:solidFill>
                  <a:srgbClr val="F59E0B"/>
                </a:solidFill>
              </a:rPr>
              <a:t>σ_t² = ω + α·ε_{t-1}² + β·σ_{t-1}²  [Expands dynamic 95% confidence cones]</a:t>
            </a:r>
          </a:p>
          <a:p>
            <a:pPr>
              <a:spcBef>
                <a:spcPts val="300"/>
              </a:spcBef>
            </a:pPr>
            <a:r>
              <a:rPr sz="750" b="1">
                <a:solidFill>
                  <a:srgbClr val="F8FAFC"/>
                </a:solidFill>
              </a:rPr>
              <a:t>3. Cumulative Trajectory Compounding: </a:t>
            </a:r>
            <a:r>
              <a:rPr sz="720">
                <a:solidFill>
                  <a:srgbClr val="F59E0B"/>
                </a:solidFill>
              </a:rPr>
              <a:t>P̂_{t+h} = P_t · exp(Σ_{τ=1}^h r̂_τ)  [Projects nominal $/day forward freight]</a:t>
            </a:r>
          </a:p>
          <a:p>
            <a:pPr>
              <a:spcBef>
                <a:spcPts val="300"/>
              </a:spcBef>
            </a:pPr>
            <a:r>
              <a:rPr sz="750" b="1">
                <a:solidFill>
                  <a:srgbClr val="F8FAFC"/>
                </a:solidFill>
              </a:rPr>
              <a:t>4. Hydrodynamic Cubic Speed Law: </a:t>
            </a:r>
            <a:r>
              <a:rPr sz="720">
                <a:solidFill>
                  <a:srgbClr val="F59E0B"/>
                </a:solidFill>
              </a:rPr>
              <a:t>F(v) = F_design · (v / v_design)³  [Optimizes steaming knots vs bunker price]</a:t>
            </a:r>
          </a:p>
          <a:p>
            <a:pPr>
              <a:spcBef>
                <a:spcPts val="300"/>
              </a:spcBef>
            </a:pPr>
            <a:r>
              <a:rPr sz="750" b="1">
                <a:solidFill>
                  <a:srgbClr val="F8FAFC"/>
                </a:solidFill>
              </a:rPr>
              <a:t>5. Net Timing Arbitrage Savings: </a:t>
            </a:r>
            <a:r>
              <a:rPr sz="720">
                <a:solidFill>
                  <a:srgbClr val="F59E0B"/>
                </a:solidFill>
              </a:rPr>
              <a:t>ΔSpend = (P_0 - P̂_{fixture}) · TransitDays · (MT / DWT) - DemurrageRisk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● AUDIT PROOF: Zero lookahead bias  •  Walk-forward validation on 10,246 trading records  •  CVC &amp; CAG compliant fixture dossier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